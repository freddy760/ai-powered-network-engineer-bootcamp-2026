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395B"/>
          </a:solidFill>
          <a:ln w="12700">
            <a:solidFill>
              <a:srgbClr val="1539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D8A65"/>
          </a:solidFill>
          <a:ln w="12700">
            <a:solidFill>
              <a:srgbClr val="1D8A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97280"/>
            <a:ext cx="7040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SAP Joule Studio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AI Agent Development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DEAF5"/>
                </a:solidFill>
              </a:rPr>
              <a:t>Professional Video Course Production Deck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31012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E7DB"/>
                </a:solidFill>
              </a:rPr>
              <a:t>PowerPoint • Trainer Script • Avatar Scenes • MP4 Storyboard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732520" y="2057400"/>
            <a:ext cx="2514600" cy="2606040"/>
          </a:xfrm>
          <a:prstGeom prst="roundRect">
            <a:avLst>
              <a:gd name="adj" fmla="val 2909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0" y="24231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8A65"/>
                </a:solidFill>
              </a:rPr>
              <a:t>COURSE KIT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025128" y="2788920"/>
            <a:ext cx="1920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95B"/>
                </a:solidFill>
              </a:rPr>
              <a:t>10 Modules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5395B"/>
                </a:solidFill>
              </a:rPr>
              <a:t>81 Sections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5395B"/>
                </a:solidFill>
              </a:rPr>
              <a:t>~8 Hours Planned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5395B"/>
                </a:solidFill>
              </a:rPr>
              <a:t>333 Video Scenes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SAP Joule Studio &amp; AI Agent Development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1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production deck delivers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8595360" y="35661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Course packaging overview</a:t>
            </a:r>
            <a:endParaRPr lang="en-US" sz="78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55680" cy="0"/>
          </a:xfrm>
          <a:prstGeom prst="line">
            <a:avLst/>
          </a:prstGeom>
          <a:noFill/>
          <a:ln w="12700">
            <a:solidFill>
              <a:srgbClr val="1D8A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EAF3F0"/>
          </a:solidFill>
          <a:ln w="12700">
            <a:solidFill>
              <a:srgbClr val="D6E4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356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95B"/>
                </a:solidFill>
              </a:rPr>
              <a:t>Professional PowerPoint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856232"/>
            <a:ext cx="43891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Broadcast-ready 16:9 deck structure with avatar-safe slide composition.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23444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5F8FC"/>
          </a:solidFill>
          <a:ln w="12700">
            <a:solidFill>
              <a:srgbClr val="D6E4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4356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95B"/>
                </a:solidFill>
              </a:rPr>
              <a:t>Trainer Script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1856232"/>
            <a:ext cx="43891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Voiceover-ready narration framework for every section of the course.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20040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EAF3F0"/>
          </a:solidFill>
          <a:ln w="12700">
            <a:solidFill>
              <a:srgbClr val="D6E4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4015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95B"/>
                </a:solidFill>
              </a:rPr>
              <a:t>Scene Format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822192"/>
            <a:ext cx="43891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Scene-level actions, visuals, avatar direction, and production notes.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320040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5F8FC"/>
          </a:solidFill>
          <a:ln w="12700">
            <a:solidFill>
              <a:srgbClr val="D6E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4015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95B"/>
                </a:solidFill>
              </a:rPr>
              <a:t>MP4 Storyboard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3822192"/>
            <a:ext cx="43891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Editor-ready sequencing for assembling video lessons into MP4 output.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0" y="1005840"/>
            <a:ext cx="2331720" cy="4023360"/>
          </a:xfrm>
          <a:prstGeom prst="rect">
            <a:avLst/>
          </a:prstGeom>
          <a:solidFill>
            <a:srgbClr val="F3F6F9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2331720"/>
            <a:ext cx="19659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Avatar safe zone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3×4 area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Place trainer here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SAP Joule Studio &amp; AI Agent Development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Course Roadmap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8595360" y="35661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10-module learner journey</a:t>
            </a:r>
            <a:endParaRPr lang="en-US" sz="78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55680" cy="0"/>
          </a:xfrm>
          <a:prstGeom prst="line">
            <a:avLst/>
          </a:prstGeom>
          <a:noFill/>
          <a:ln w="12700">
            <a:solidFill>
              <a:srgbClr val="1D8A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005840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15395B"/>
          </a:solidFill>
          <a:ln w="12700">
            <a:solidFill>
              <a:srgbClr val="15395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088136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FOUNDATION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3520440" y="1005840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1D8A65"/>
          </a:solidFill>
          <a:ln w="12700">
            <a:solidFill>
              <a:srgbClr val="1D8A6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93592" y="1088136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BUILD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6355080" y="1005840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0E6251"/>
          </a:solidFill>
          <a:ln w="12700">
            <a:solidFill>
              <a:srgbClr val="0E625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088136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IMPLEMENT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9189720" y="1005840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F2B705"/>
          </a:solidFill>
          <a:ln w="12700">
            <a:solidFill>
              <a:srgbClr val="F2B70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62872" y="1088136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GOVERN &amp; SCALE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685800" y="1645920"/>
            <a:ext cx="19385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17556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M1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5528" y="20391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395B"/>
                </a:solidFill>
              </a:rPr>
              <a:t>Introduction to SAP Joule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5528" y="25877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8 sections • 87 min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926080" y="1645920"/>
            <a:ext cx="19385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35808" y="17556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M2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35808" y="20391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395B"/>
                </a:solidFill>
              </a:rPr>
              <a:t>AI Fundamentals for Business Professionals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035808" y="25877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8 sections • 91 min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166360" y="1645920"/>
            <a:ext cx="19385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76088" y="17556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M3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76088" y="20391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395B"/>
                </a:solidFill>
              </a:rPr>
              <a:t>Generative AI and Large Language Models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276088" y="25877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8 sections • 106 min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406640" y="1645920"/>
            <a:ext cx="19385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16368" y="17556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M4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16368" y="20391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395B"/>
                </a:solidFill>
              </a:rPr>
              <a:t>SAP Joule Studio Deep Dive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516368" y="25877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12 sections • 146 min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646920" y="1645920"/>
            <a:ext cx="19385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56648" y="17556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M5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756648" y="20391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395B"/>
                </a:solidFill>
              </a:rPr>
              <a:t>Prompt Engineering Mastery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756648" y="25877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7 sections • 88 min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85800" y="3474720"/>
            <a:ext cx="19385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" y="35844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M6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5528" y="38679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395B"/>
                </a:solidFill>
              </a:rPr>
              <a:t>Building Intelligent Conversational Agents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95528" y="44165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10 sections • 128 min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926080" y="3474720"/>
            <a:ext cx="19385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35808" y="35844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M7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035808" y="38679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395B"/>
                </a:solidFill>
              </a:rPr>
              <a:t>Advanced Architecture and Design Patterns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035808" y="44165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7 sections • 88 min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166360" y="3474720"/>
            <a:ext cx="19385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76088" y="35844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M8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76088" y="38679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395B"/>
                </a:solidFill>
              </a:rPr>
              <a:t>Integration with SAP Systems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276088" y="44165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8 sections • 92 min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406640" y="3474720"/>
            <a:ext cx="19385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16368" y="35844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M9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516368" y="38679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395B"/>
                </a:solidFill>
              </a:rPr>
              <a:t>Real-World Use Cases and Scenarios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516368" y="44165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5 sections • 54 min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9646920" y="3474720"/>
            <a:ext cx="19385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756648" y="35844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M10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756648" y="38679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395B"/>
                </a:solidFill>
              </a:rPr>
              <a:t>Governance,  Best Practices &amp; Deployment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9756648" y="44165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8 sections • 84 min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SAP Joule Studio &amp; AI Agent Development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MP4 Production Workflow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8595360" y="35661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Simple, low-cost production path</a:t>
            </a:r>
            <a:endParaRPr lang="en-US" sz="78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55680" cy="0"/>
          </a:xfrm>
          <a:prstGeom prst="line">
            <a:avLst/>
          </a:prstGeom>
          <a:noFill/>
          <a:ln w="12700">
            <a:solidFill>
              <a:srgbClr val="1D8A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685800" cy="685800"/>
          </a:xfrm>
          <a:prstGeom prst="ellipse">
            <a:avLst/>
          </a:prstGeom>
          <a:solidFill>
            <a:srgbClr val="1D8A65"/>
          </a:solidFill>
          <a:ln w="12700">
            <a:solidFill>
              <a:srgbClr val="1D8A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57276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36192" y="1755648"/>
            <a:ext cx="1993392" cy="0"/>
          </a:xfrm>
          <a:prstGeom prst="line">
            <a:avLst/>
          </a:prstGeom>
          <a:noFill/>
          <a:ln w="12700">
            <a:solidFill>
              <a:srgbClr val="9AB8AB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85800" y="24231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395B"/>
                </a:solidFill>
              </a:rPr>
              <a:t>Finalize slides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1965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11827"/>
                </a:solidFill>
              </a:rPr>
              <a:t>Use this deck as base; add screenshots and diagrams.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3611880" y="1417320"/>
            <a:ext cx="685800" cy="685800"/>
          </a:xfrm>
          <a:prstGeom prst="ellipse">
            <a:avLst/>
          </a:prstGeom>
          <a:solidFill>
            <a:srgbClr val="1D8A65"/>
          </a:solidFill>
          <a:ln w="12700">
            <a:solidFill>
              <a:srgbClr val="1D8A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22192" y="157276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25112" y="1755648"/>
            <a:ext cx="1993392" cy="0"/>
          </a:xfrm>
          <a:prstGeom prst="line">
            <a:avLst/>
          </a:prstGeom>
          <a:noFill/>
          <a:ln w="12700">
            <a:solidFill>
              <a:srgbClr val="9AB8A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474720" y="24231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395B"/>
                </a:solidFill>
              </a:rPr>
              <a:t>Record narration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7560" y="2788920"/>
            <a:ext cx="1965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11827"/>
                </a:solidFill>
              </a:rPr>
              <a:t>PowerPoint TTS, built-in recording, or external voiceover.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400800" y="1417320"/>
            <a:ext cx="685800" cy="685800"/>
          </a:xfrm>
          <a:prstGeom prst="ellipse">
            <a:avLst/>
          </a:prstGeom>
          <a:solidFill>
            <a:srgbClr val="1D8A65"/>
          </a:solidFill>
          <a:ln w="12700">
            <a:solidFill>
              <a:srgbClr val="1D8A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157276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14032" y="1755648"/>
            <a:ext cx="1993392" cy="0"/>
          </a:xfrm>
          <a:prstGeom prst="line">
            <a:avLst/>
          </a:prstGeom>
          <a:noFill/>
          <a:ln w="12700">
            <a:solidFill>
              <a:srgbClr val="9AB8AB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263640" y="24231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395B"/>
                </a:solidFill>
              </a:rPr>
              <a:t>Add avatar/video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26480" y="2788920"/>
            <a:ext cx="1965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11827"/>
                </a:solidFill>
              </a:rPr>
              <a:t>Optional: place trainer/avatar in right safe zone.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9189720" y="1417320"/>
            <a:ext cx="685800" cy="685800"/>
          </a:xfrm>
          <a:prstGeom prst="ellipse">
            <a:avLst/>
          </a:prstGeom>
          <a:solidFill>
            <a:srgbClr val="1D8A65"/>
          </a:solidFill>
          <a:ln w="12700">
            <a:solidFill>
              <a:srgbClr val="1D8A6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0032" y="157276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902952" y="1755648"/>
            <a:ext cx="0" cy="0"/>
          </a:xfrm>
          <a:prstGeom prst="line">
            <a:avLst/>
          </a:prstGeom>
          <a:noFill/>
          <a:ln w="12700">
            <a:solidFill>
              <a:srgbClr val="9AB8AB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9052560" y="24231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395B"/>
                </a:solidFill>
              </a:rPr>
              <a:t>Export MP4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915400" y="2788920"/>
            <a:ext cx="1965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11827"/>
                </a:solidFill>
              </a:rPr>
              <a:t>PowerPoint: File &gt; Export &gt; Create a Video.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1005840" y="4709160"/>
            <a:ext cx="9875520" cy="777240"/>
          </a:xfrm>
          <a:prstGeom prst="roundRect">
            <a:avLst>
              <a:gd name="adj" fmla="val 9412"/>
            </a:avLst>
          </a:prstGeom>
          <a:solidFill>
            <a:srgbClr val="EAF3F0"/>
          </a:solidFill>
          <a:ln w="12700">
            <a:solidFill>
              <a:srgbClr val="D2E8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34440" y="4956048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95B"/>
                </a:solidFill>
              </a:rPr>
              <a:t>Recommended MP4 setting: Full HD 1080p • 30 fps • clear audio • 16:9 slides • avatar on right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SAP Joule Studio &amp; AI Agent Development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1: Introduction to SAP Joule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8595360" y="35661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8 sections • 87 minutes • 44 slide target</a:t>
            </a:r>
            <a:endParaRPr lang="en-US" sz="78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55680" cy="0"/>
          </a:xfrm>
          <a:prstGeom prst="line">
            <a:avLst/>
          </a:prstGeom>
          <a:noFill/>
          <a:ln w="12700">
            <a:solidFill>
              <a:srgbClr val="1D8A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8A65"/>
                </a:solidFill>
              </a:rPr>
              <a:t>Learning emphasis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46634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Understand course scope and structure, set learning goals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Define SAP Joule and understand its role in enterprise AI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Understand business value and strategic importance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Comprehend high-level system architecture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8A65"/>
                </a:solidFill>
              </a:rPr>
              <a:t>Section plan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1.1 Welcome &amp; Course Overview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4846320" y="3127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8 min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1.2 What is SAP Joule?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4846320" y="34747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822960" y="38221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1.3 Why SAP Joule Matters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4846320" y="38221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10 min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822960" y="41696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1.4 SAP Joule Architecture Overview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4846320" y="41696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15 min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822960" y="451713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1.5 Joule in S/4HANA Ecosystem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4846320" y="451713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822960" y="486460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1.6 Real-World Success Stories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48463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10 min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822960" y="52120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1.7 Course Tools &amp; Setup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4846320" y="52120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8 min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822960" y="55595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1.8 Q&amp;A and Common Questions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4846320" y="55595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6126480" y="1143000"/>
            <a:ext cx="2468880" cy="42976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95B"/>
                </a:solidFill>
              </a:rPr>
              <a:t>Video direction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196596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56832" y="19659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Use animated concept map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6400800" y="251460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56832" y="25146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Add SAP process example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6400800" y="3063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56832" y="30632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Show 3-5 practical callouts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6400800" y="361188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56832" y="36118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Close with action checklist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9144000" y="1005840"/>
            <a:ext cx="2331720" cy="4023360"/>
          </a:xfrm>
          <a:prstGeom prst="rect">
            <a:avLst/>
          </a:prstGeom>
          <a:solidFill>
            <a:srgbClr val="F3F6F9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0" y="2331720"/>
            <a:ext cx="19659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Avatar safe zone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3×4 area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Place trainer here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SAP Joule Studio &amp; AI Agent Development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5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2: AI Fundamentals for Business Professionals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8595360" y="35661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8 sections • 91 minutes • 46 slide target</a:t>
            </a:r>
            <a:endParaRPr lang="en-US" sz="78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55680" cy="0"/>
          </a:xfrm>
          <a:prstGeom prst="line">
            <a:avLst/>
          </a:prstGeom>
          <a:noFill/>
          <a:ln w="12700">
            <a:solidFill>
              <a:srgbClr val="1D8A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8A65"/>
                </a:solidFill>
              </a:rPr>
              <a:t>Learning emphasis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46634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Understand AI as a technology, separate hype from reality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Understand ML mechanisms without deep math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Recognize ML types and relevant use cases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Speak ML language confidently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8A65"/>
                </a:solidFill>
              </a:rPr>
              <a:t>Section plan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2.1 Demystifying Artificial Intelligence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4846320" y="3127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2.2 Machine Learning Essentials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4846320" y="34747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15 min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822960" y="38221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2.3 Types of ML and Their Applications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4846320" y="38221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822960" y="41696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2.4 Key ML Terminology Explained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4846320" y="41696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10 min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822960" y="451713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2.5 From Data to Decisions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4846320" y="451713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822960" y="486460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2.6 AI in Enterprise Systems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48463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10 min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822960" y="52120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2.7 Building AI Intuition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4846320" y="52120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822960" y="55595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2.8 Hands-On: AI Concept Quiz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4846320" y="55595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8 min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6126480" y="1143000"/>
            <a:ext cx="2468880" cy="42976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95B"/>
                </a:solidFill>
              </a:rPr>
              <a:t>Video direction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196596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56832" y="19659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Use animated concept map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6400800" y="251460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56832" y="25146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Add SAP process example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6400800" y="3063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56832" y="30632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Show 3-5 practical callouts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6400800" y="361188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56832" y="36118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Close with action checklist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9144000" y="1005840"/>
            <a:ext cx="2331720" cy="4023360"/>
          </a:xfrm>
          <a:prstGeom prst="rect">
            <a:avLst/>
          </a:prstGeom>
          <a:solidFill>
            <a:srgbClr val="F3F6F9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0" y="2331720"/>
            <a:ext cx="19659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Avatar safe zone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3×4 area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Place trainer here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SAP Joule Studio &amp; AI Agent Development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3: Generative AI and Large Language Models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8595360" y="35661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8 sections • 106 minutes • 54 slide target</a:t>
            </a:r>
            <a:endParaRPr lang="en-US" sz="78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55680" cy="0"/>
          </a:xfrm>
          <a:prstGeom prst="line">
            <a:avLst/>
          </a:prstGeom>
          <a:noFill/>
          <a:ln w="12700">
            <a:solidFill>
              <a:srgbClr val="1D8A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8A65"/>
                </a:solidFill>
              </a:rPr>
              <a:t>Learning emphasis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46634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Understand why generative AI is transformative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Understand LLM fundamentals conceptually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Grasp LLM mechanics without advanced math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Recognize what LLMs excel at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8A65"/>
                </a:solidFill>
              </a:rPr>
              <a:t>Section plan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3.1 The Generative AI Revolution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4846320" y="3127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3.2 What is a Large Language Model?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4846320" y="34747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15 min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822960" y="38221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3.3 How LLMs Actually Work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4846320" y="38221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18 min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822960" y="41696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3.4 LLM Capabilities Deep Dive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4846320" y="41696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822960" y="451713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3.5 Understanding LLM Limitations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4846320" y="451713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15 min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822960" y="486460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3.6 Fine-tuning and Adaptation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48463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822960" y="52120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3.7 Evaluating LLM Quality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4846320" y="52120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10 min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822960" y="55595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3.8 Interactive: Ask an LLM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4846320" y="55595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6126480" y="1143000"/>
            <a:ext cx="2468880" cy="42976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95B"/>
                </a:solidFill>
              </a:rPr>
              <a:t>Video direction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196596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56832" y="19659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Use animated concept map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6400800" y="251460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56832" y="25146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Add SAP process example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6400800" y="3063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56832" y="30632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Show 3-5 practical callouts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6400800" y="361188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56832" y="36118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Close with action checklist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9144000" y="1005840"/>
            <a:ext cx="2331720" cy="4023360"/>
          </a:xfrm>
          <a:prstGeom prst="rect">
            <a:avLst/>
          </a:prstGeom>
          <a:solidFill>
            <a:srgbClr val="F3F6F9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0" y="2331720"/>
            <a:ext cx="19659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Avatar safe zone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3×4 area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Place trainer here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SAP Joule Studio &amp; AI Agent Development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7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4: SAP Joule Studio Deep Dive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8595360" y="35661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12 sections • 146 minutes • 74 slide target</a:t>
            </a:r>
            <a:endParaRPr lang="en-US" sz="78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55680" cy="0"/>
          </a:xfrm>
          <a:prstGeom prst="line">
            <a:avLst/>
          </a:prstGeom>
          <a:noFill/>
          <a:ln w="12700">
            <a:solidFill>
              <a:srgbClr val="1D8A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8A65"/>
                </a:solidFill>
              </a:rPr>
              <a:t>Learning emphasis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46634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Navigate studio efficiently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Design conversations visually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Build knowledge foundation for agents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Improve agent performance systematically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8A65"/>
                </a:solidFill>
              </a:rPr>
              <a:t>Section plan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4.1 Studio Navigation &amp; Interface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4846320" y="3127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4.2 The Conversation Designer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4846320" y="34747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15 min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822960" y="38221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4.3 Knowledge Management in Studio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4846320" y="38221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822960" y="41696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4.4 Training and Testing Tools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4846320" y="41696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15 min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822960" y="451713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4.5 Integration Configuration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4846320" y="451713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822960" y="486460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4.6 Response Generation Options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48463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10 min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822960" y="52120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4.7 Deployment and Channels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4846320" y="52120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822960" y="55595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4.8 Analytics and Monitoring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4846320" y="55595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6126480" y="1143000"/>
            <a:ext cx="2468880" cy="42976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95B"/>
                </a:solidFill>
              </a:rPr>
              <a:t>Video direction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196596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56832" y="19659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Use animated concept map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6400800" y="251460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56832" y="25146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Add SAP process example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6400800" y="3063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56832" y="30632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Show 3-5 practical callouts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6400800" y="361188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56832" y="36118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Close with action checklist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9144000" y="1005840"/>
            <a:ext cx="2331720" cy="4023360"/>
          </a:xfrm>
          <a:prstGeom prst="rect">
            <a:avLst/>
          </a:prstGeom>
          <a:solidFill>
            <a:srgbClr val="F3F6F9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0" y="2331720"/>
            <a:ext cx="19659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Avatar safe zone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3×4 area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Place trainer here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SAP Joule Studio &amp; AI Agent Development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8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5: Prompt Engineering Mastery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8595360" y="35661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7 sections • 88 minutes • 45 slide target</a:t>
            </a:r>
            <a:endParaRPr lang="en-US" sz="78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55680" cy="0"/>
          </a:xfrm>
          <a:prstGeom prst="line">
            <a:avLst/>
          </a:prstGeom>
          <a:noFill/>
          <a:ln w="12700">
            <a:solidFill>
              <a:srgbClr val="1D8A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8A65"/>
                </a:solidFill>
              </a:rPr>
              <a:t>Learning emphasis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46634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Understand prompt engineering discipline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Craft fundamentally sound prompts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Apply advanced prompt techniques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Optimize for SAP Joule specifically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8A65"/>
                </a:solidFill>
              </a:rPr>
              <a:t>Section plan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5.1 What is Prompt Engineering?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4846320" y="3127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10 min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5.2 Core Principles of Effective Prompts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4846320" y="34747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15 min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822960" y="38221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5.3 Prompt Patterns and Techniques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4846320" y="38221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18 min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822960" y="41696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5.4 SAP-Specific Prompt Optimization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4846320" y="41696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822960" y="451713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5.5 Prompt Iteration and Refinement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4846320" y="451713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10 min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822960" y="486460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5.6 Hands-On Lab 2: Prompt Optimization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48463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15 min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822960" y="52120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5.7 Common Mistakes and How to Avoid Them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4846320" y="52120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8 min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6126480" y="1143000"/>
            <a:ext cx="2468880" cy="42976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95B"/>
                </a:solidFill>
              </a:rPr>
              <a:t>Video direction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196596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56832" y="19659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Use animated concept map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6400800" y="251460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56832" y="25146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Add SAP process example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6400800" y="3063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56832" y="30632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Show 3-5 practical callouts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6400800" y="361188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56832" y="36118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Close with action checklist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9144000" y="1005840"/>
            <a:ext cx="2331720" cy="4023360"/>
          </a:xfrm>
          <a:prstGeom prst="rect">
            <a:avLst/>
          </a:prstGeom>
          <a:solidFill>
            <a:srgbClr val="F3F6F9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0" y="2331720"/>
            <a:ext cx="19659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Avatar safe zone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3×4 area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Place trainer here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SAP Joule Studio &amp; AI Agent Development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9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6: Building Intelligent Conversational Agents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8595360" y="35661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10 sections • 128 minutes • 65 slide target</a:t>
            </a:r>
            <a:endParaRPr lang="en-US" sz="78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55680" cy="0"/>
          </a:xfrm>
          <a:prstGeom prst="line">
            <a:avLst/>
          </a:prstGeom>
          <a:noFill/>
          <a:ln w="12700">
            <a:solidFill>
              <a:srgbClr val="1D8A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8A65"/>
                </a:solidFill>
              </a:rPr>
              <a:t>Learning emphasis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46634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Understand agent building blocks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Design natural conversations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Build NLU capabilities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Maintain coherent conversations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8A65"/>
                </a:solidFill>
              </a:rPr>
              <a:t>Section plan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6.1 Agent Fundamentals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4846320" y="3127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6.2 Conversation Flow Design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4846320" y="34747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15 min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822960" y="38221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6.3 Intent and Entity Recognition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4846320" y="38221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822960" y="41696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6.4 Context Management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4846320" y="41696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822960" y="451713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6.5 Handling Errors and Edge Cases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4846320" y="451713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10 min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822960" y="486460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6.6 Agent Patterns by Use Case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48463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15 min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822960" y="52120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6.7 Multi-Intent Conversations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4846320" y="52120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822960" y="55595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6.8 Rich Response Formatting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4846320" y="55595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10 min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6126480" y="1143000"/>
            <a:ext cx="2468880" cy="42976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95B"/>
                </a:solidFill>
              </a:rPr>
              <a:t>Video direction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196596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56832" y="19659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Use animated concept map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6400800" y="251460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56832" y="25146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Add SAP process example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6400800" y="3063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56832" y="30632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Show 3-5 practical callouts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6400800" y="361188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56832" y="36118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Close with action checklist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9144000" y="1005840"/>
            <a:ext cx="2331720" cy="4023360"/>
          </a:xfrm>
          <a:prstGeom prst="rect">
            <a:avLst/>
          </a:prstGeom>
          <a:solidFill>
            <a:srgbClr val="F3F6F9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0" y="2331720"/>
            <a:ext cx="19659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Avatar safe zone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3×4 area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Place trainer here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SAP Joule Studio &amp; AI Agent Development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10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7: Advanced Architecture and Design Patterns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8595360" y="35661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7 sections • 88 minutes • 45 slide target</a:t>
            </a:r>
            <a:endParaRPr lang="en-US" sz="78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55680" cy="0"/>
          </a:xfrm>
          <a:prstGeom prst="line">
            <a:avLst/>
          </a:prstGeom>
          <a:noFill/>
          <a:ln w="12700">
            <a:solidFill>
              <a:srgbClr val="1D8A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8A65"/>
                </a:solidFill>
              </a:rPr>
              <a:t>Learning emphasis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46634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Build enterprise-grade agents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Design for maintainability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Coordinate multiple agents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Design for growth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8A65"/>
                </a:solidFill>
              </a:rPr>
              <a:t>Section plan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7.1 Enterprise Agent Architecture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4846320" y="3127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7.2 Modular Agent Design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4846320" y="34747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822960" y="38221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7.3 Multi-Agent Orchestration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4846320" y="38221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15 min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822960" y="41696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7.4 Scalability and Performance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4846320" y="41696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822960" y="451713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7.5 Security Architecture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4846320" y="451713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822960" y="486460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7.6 High Availability and Disaster Recovery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48463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10 min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822960" y="52120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7.7 Hands-On Lab 4: Design Enterprise Architecture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4846320" y="52120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15 min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6126480" y="1143000"/>
            <a:ext cx="2468880" cy="42976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95B"/>
                </a:solidFill>
              </a:rPr>
              <a:t>Video direction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196596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56832" y="19659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Use animated concept map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6400800" y="251460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56832" y="25146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Add SAP process example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6400800" y="3063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56832" y="30632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Show 3-5 practical callouts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6400800" y="361188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56832" y="36118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Close with action checklist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9144000" y="1005840"/>
            <a:ext cx="2331720" cy="4023360"/>
          </a:xfrm>
          <a:prstGeom prst="rect">
            <a:avLst/>
          </a:prstGeom>
          <a:solidFill>
            <a:srgbClr val="F3F6F9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0" y="2331720"/>
            <a:ext cx="19659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Avatar safe zone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3×4 area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Place trainer here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SAP Joule Studio &amp; AI Agent Development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11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8: Integration with SAP Systems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8595360" y="35661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8 sections • 92 minutes • 46 slide target</a:t>
            </a:r>
            <a:endParaRPr lang="en-US" sz="78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55680" cy="0"/>
          </a:xfrm>
          <a:prstGeom prst="line">
            <a:avLst/>
          </a:prstGeom>
          <a:noFill/>
          <a:ln w="12700">
            <a:solidFill>
              <a:srgbClr val="1D8A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8A65"/>
                </a:solidFill>
              </a:rPr>
              <a:t>Learning emphasis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46634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Understand SAP landscape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Choose integration method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Access core SAP data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Query transaction data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8A65"/>
                </a:solidFill>
              </a:rPr>
              <a:t>Section plan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8.1 SAP System Architecture Overview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4846320" y="3127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8.2 Connectivity Options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4846320" y="34747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822960" y="38221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8.3 Master Data Integration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4846320" y="38221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822960" y="41696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8.4 Transactional Data Access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4846320" y="41696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822960" y="451713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8.5 Creating and Updating Records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4846320" y="451713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822960" y="486460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8.6 Process Integration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48463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10 min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822960" y="52120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8.7 Real-Time Analytics Integration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4846320" y="52120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10 min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822960" y="55595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8.8 Secure and Compliant Integration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4846320" y="55595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6126480" y="1143000"/>
            <a:ext cx="2468880" cy="42976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95B"/>
                </a:solidFill>
              </a:rPr>
              <a:t>Video direction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196596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56832" y="19659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Use animated concept map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6400800" y="251460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56832" y="25146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Add SAP process example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6400800" y="3063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56832" y="30632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Show 3-5 practical callouts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6400800" y="361188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56832" y="36118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Close with action checklist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9144000" y="1005840"/>
            <a:ext cx="2331720" cy="4023360"/>
          </a:xfrm>
          <a:prstGeom prst="rect">
            <a:avLst/>
          </a:prstGeom>
          <a:solidFill>
            <a:srgbClr val="F3F6F9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0" y="2331720"/>
            <a:ext cx="19659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Avatar safe zone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3×4 area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Place trainer here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SAP Joule Studio &amp; AI Agent Development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12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9: Real-World Use Cases and Scenarios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8595360" y="35661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5 sections • 54 minutes • 27 slide target</a:t>
            </a:r>
            <a:endParaRPr lang="en-US" sz="78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55680" cy="0"/>
          </a:xfrm>
          <a:prstGeom prst="line">
            <a:avLst/>
          </a:prstGeom>
          <a:noFill/>
          <a:ln w="12700">
            <a:solidFill>
              <a:srgbClr val="1D8A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8A65"/>
                </a:solidFill>
              </a:rPr>
              <a:t>Learning emphasis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46634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See FICO-specific applications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Supply chain applications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Revenue-facing applications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People-focused applications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8A65"/>
                </a:solidFill>
              </a:rPr>
              <a:t>Section plan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9.1 Finance &amp; Controlling Use Cases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4846320" y="3127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9.2 Procurement &amp; Supply Chain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4846320" y="34747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10 min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822960" y="38221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9.3 Sales &amp; Customer Service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4846320" y="38221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822960" y="41696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9.4 HR and Talent Management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4846320" y="41696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10 min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822960" y="451713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9.5 Operations and Maintenance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4846320" y="451713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10 min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6126480" y="1143000"/>
            <a:ext cx="2468880" cy="42976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95B"/>
                </a:solidFill>
              </a:rPr>
              <a:t>Video direction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196596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56832" y="19659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Use animated concept map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6400800" y="251460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56832" y="25146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Add SAP process example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6400800" y="3063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56832" y="30632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Show 3-5 practical callouts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6400800" y="361188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56832" y="36118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Close with action checklist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9144000" y="1005840"/>
            <a:ext cx="2331720" cy="4023360"/>
          </a:xfrm>
          <a:prstGeom prst="rect">
            <a:avLst/>
          </a:prstGeom>
          <a:solidFill>
            <a:srgbClr val="F3F6F9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0" y="2331720"/>
            <a:ext cx="19659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Avatar safe zone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3×4 area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Place trainer here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SAP Joule Studio &amp; AI Agent Development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13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10: Governance,  Best Practices &amp; Deployment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8595360" y="35661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8 sections • 84 minutes • 42 slide target</a:t>
            </a:r>
            <a:endParaRPr lang="en-US" sz="78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55680" cy="0"/>
          </a:xfrm>
          <a:prstGeom prst="line">
            <a:avLst/>
          </a:prstGeom>
          <a:noFill/>
          <a:ln w="12700">
            <a:solidFill>
              <a:srgbClr val="1D8A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8A65"/>
                </a:solidFill>
              </a:rPr>
              <a:t>Learning emphasis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46634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Understand responsible AI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Govern agent behavior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Monitor in production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</a:rPr>
              <a:t>• Improve agents over time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8A65"/>
                </a:solidFill>
              </a:rPr>
              <a:t>Section plan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10.1 Responsible AI Principles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4846320" y="3127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10.2 Agent Governance Framework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4846320" y="34747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822960" y="38221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10.3 Monitoring and Auditing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4846320" y="38221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822960" y="41696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10.4 Continuous Improvement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4846320" y="41696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10 min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822960" y="451713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10.5 Common Pitfalls and How to Avoid Them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4846320" y="451713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10 min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822960" y="486460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10.6 Implementation Roadmap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48463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12 min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822960" y="52120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10.7 Capstone Project Overview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4846320" y="52120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8 min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822960" y="55595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5395B"/>
                </a:solidFill>
              </a:rPr>
              <a:t>10.8 Course Review and Certification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4846320" y="55595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8 min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6126480" y="1143000"/>
            <a:ext cx="2468880" cy="42976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95B"/>
                </a:solidFill>
              </a:rPr>
              <a:t>Video direction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196596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56832" y="19659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Use animated concept map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6400800" y="251460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56832" y="25146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Add SAP process example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6400800" y="3063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56832" y="30632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Show 3-5 practical callouts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6400800" y="361188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56832" y="36118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Close with action checklist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9144000" y="1005840"/>
            <a:ext cx="2331720" cy="4023360"/>
          </a:xfrm>
          <a:prstGeom prst="rect">
            <a:avLst/>
          </a:prstGeom>
          <a:solidFill>
            <a:srgbClr val="F3F6F9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0" y="2331720"/>
            <a:ext cx="19659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Avatar safe zone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3×4 area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Place trainer here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SAP Joule Studio &amp; AI Agent Development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14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Scene-by-Scene Video Format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8595360" y="35661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Use this structure for every lesson segment</a:t>
            </a:r>
            <a:endParaRPr lang="en-US" sz="78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55680" cy="0"/>
          </a:xfrm>
          <a:prstGeom prst="line">
            <a:avLst/>
          </a:prstGeom>
          <a:noFill/>
          <a:ln w="12700">
            <a:solidFill>
              <a:srgbClr val="1D8A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1783080" cy="324612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6E4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5727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95B"/>
                </a:solidFill>
              </a:rPr>
              <a:t>Scene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240280"/>
            <a:ext cx="14173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11827"/>
                </a:solidFill>
              </a:rPr>
              <a:t>Hook / concept / demo / recap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2788920" y="1325880"/>
            <a:ext cx="1783080" cy="3246120"/>
          </a:xfrm>
          <a:prstGeom prst="roundRect">
            <a:avLst>
              <a:gd name="adj" fmla="val 4103"/>
            </a:avLst>
          </a:prstGeom>
          <a:solidFill>
            <a:srgbClr val="EAF3F0"/>
          </a:solidFill>
          <a:ln w="12700">
            <a:solidFill>
              <a:srgbClr val="D6E4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8648" y="15727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95B"/>
                </a:solidFill>
              </a:rPr>
              <a:t>Visual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53512" y="2240280"/>
            <a:ext cx="14173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11827"/>
                </a:solidFill>
              </a:rPr>
              <a:t>Slide, diagram, screenshot, motion cue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4937760" y="1325880"/>
            <a:ext cx="1783080" cy="324612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6E4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15727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95B"/>
                </a:solidFill>
              </a:rPr>
              <a:t>Avatar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02352" y="2240280"/>
            <a:ext cx="14173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11827"/>
                </a:solidFill>
              </a:rPr>
              <a:t>Position, gesture, facial expression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7086600" y="1325880"/>
            <a:ext cx="1783080" cy="3246120"/>
          </a:xfrm>
          <a:prstGeom prst="roundRect">
            <a:avLst>
              <a:gd name="adj" fmla="val 4103"/>
            </a:avLst>
          </a:prstGeom>
          <a:solidFill>
            <a:srgbClr val="EAF3F0"/>
          </a:solidFill>
          <a:ln w="12700">
            <a:solidFill>
              <a:srgbClr val="D6E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96328" y="15727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95B"/>
                </a:solidFill>
              </a:rPr>
              <a:t>Narration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51192" y="2240280"/>
            <a:ext cx="14173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11827"/>
                </a:solidFill>
              </a:rPr>
              <a:t>Voiceover text and timing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9235440" y="1325880"/>
            <a:ext cx="1783080" cy="324612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6E4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45168" y="15727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95B"/>
                </a:solidFill>
              </a:rPr>
              <a:t>Edit Notes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00032" y="2240280"/>
            <a:ext cx="14173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111827"/>
                </a:solidFill>
              </a:rPr>
              <a:t>Transition, zoom, music, QA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960120" y="516636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8A65"/>
                </a:solidFill>
              </a:rPr>
              <a:t>The provided CSV includes 333 scenes ready for sorting, filtering, and import into a production tracker.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SAP Joule Studio &amp; AI Agent Development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15</a:t>
            </a:r>
            <a:endParaRPr lang="en-US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Trainer Script Delivery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8595360" y="35661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Consistent voice for the whole course</a:t>
            </a:r>
            <a:endParaRPr lang="en-US" sz="78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55680" cy="0"/>
          </a:xfrm>
          <a:prstGeom prst="line">
            <a:avLst/>
          </a:prstGeom>
          <a:noFill/>
          <a:ln w="12700">
            <a:solidFill>
              <a:srgbClr val="1D8A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234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95B"/>
                </a:solidFill>
              </a:rPr>
              <a:t>Executive clarity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0" y="12527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Explain complex AI concepts in practical business language.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7223760" cy="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860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95B"/>
                </a:solidFill>
              </a:rPr>
              <a:t>SAP grounding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230428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Connect every AI idea to SAP data, workflows, controls, or user tasks.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2926080"/>
            <a:ext cx="7223760" cy="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337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95B"/>
                </a:solidFill>
              </a:rPr>
              <a:t>Hands-on cadence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335584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Move from concept to example to learner action in each section.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3977640"/>
            <a:ext cx="7223760" cy="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389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95B"/>
                </a:solidFill>
              </a:rPr>
              <a:t>Governance discipline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00400" y="440740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Stress reliability, auditability, access control, and responsible AI.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5029200"/>
            <a:ext cx="7223760" cy="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1005840"/>
            <a:ext cx="2331720" cy="4023360"/>
          </a:xfrm>
          <a:prstGeom prst="rect">
            <a:avLst/>
          </a:prstGeom>
          <a:solidFill>
            <a:srgbClr val="F3F6F9"/>
          </a:solidFill>
          <a:ln w="12700">
            <a:solidFill>
              <a:srgbClr val="D2D8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2331720"/>
            <a:ext cx="19659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Avatar safe zone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3×4 area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Place trainer here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SAP Joule Studio &amp; AI Agent Development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16</a:t>
            </a:r>
            <a:endParaRPr lang="en-US" sz="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MP4-Ready Storyboard Checklist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8595360" y="35661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Final quality gate before export</a:t>
            </a:r>
            <a:endParaRPr lang="en-US" sz="78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55680" cy="0"/>
          </a:xfrm>
          <a:prstGeom prst="line">
            <a:avLst/>
          </a:prstGeom>
          <a:noFill/>
          <a:ln w="12700">
            <a:solidFill>
              <a:srgbClr val="1D8A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1430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8A65"/>
                </a:solidFill>
              </a:rPr>
              <a:t>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18872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Slide text readable at 1080p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17373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8A65"/>
                </a:solidFill>
              </a:rPr>
              <a:t>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78308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Avatar never covers key text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23317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8A65"/>
                </a:solidFill>
              </a:rPr>
              <a:t>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37744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Narration matches exact scene duration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05840" y="29260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8A65"/>
                </a:solidFill>
              </a:rPr>
              <a:t>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97180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Transitions are consistent and not distracting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5840" y="352044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8A65"/>
                </a:solidFill>
              </a:rPr>
              <a:t>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56616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Audio normalized and free of clipping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05840" y="41148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8A65"/>
                </a:solidFill>
              </a:rPr>
              <a:t>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416052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Closed captions/transcript generated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05840" y="47091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8A65"/>
                </a:solidFill>
              </a:rPr>
              <a:t>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75488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Final MP4 reviewed end-to-end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595360" y="1371600"/>
            <a:ext cx="2377440" cy="3200400"/>
          </a:xfrm>
          <a:prstGeom prst="roundRect">
            <a:avLst>
              <a:gd name="adj" fmla="val 3077"/>
            </a:avLst>
          </a:prstGeom>
          <a:solidFill>
            <a:srgbClr val="EAF3F0"/>
          </a:solidFill>
          <a:ln w="12700">
            <a:solidFill>
              <a:srgbClr val="D2E8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17830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8A65"/>
                </a:solidFill>
              </a:rPr>
              <a:t>EXPORT TARGET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15400" y="233172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395B"/>
                </a:solidFill>
              </a:rPr>
              <a:t>MP4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5395B"/>
                </a:solidFill>
              </a:rPr>
              <a:t>1920×1080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5395B"/>
                </a:solidFill>
              </a:rPr>
              <a:t>30 fps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5395B"/>
                </a:solidFill>
              </a:rPr>
              <a:t>AAC audio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SAP Joule Studio &amp; AI Agent Development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17</a:t>
            </a:r>
            <a:endParaRPr lang="en-US" sz="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Next Steps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8595360" y="35661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Practical production plan</a:t>
            </a:r>
            <a:endParaRPr lang="en-US" sz="78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55680" cy="0"/>
          </a:xfrm>
          <a:prstGeom prst="line">
            <a:avLst/>
          </a:prstGeom>
          <a:noFill/>
          <a:ln w="12700">
            <a:solidFill>
              <a:srgbClr val="1D8A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234440"/>
            <a:ext cx="96012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7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35331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00200" y="1335024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95B"/>
                </a:solidFill>
              </a:rPr>
              <a:t>Review the master deck and module flow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51560" y="2011680"/>
            <a:ext cx="9601200" cy="438912"/>
          </a:xfrm>
          <a:prstGeom prst="roundRect">
            <a:avLst>
              <a:gd name="adj" fmla="val 16667"/>
            </a:avLst>
          </a:prstGeom>
          <a:solidFill>
            <a:srgbClr val="EAF3F0"/>
          </a:solidFill>
          <a:ln w="12700">
            <a:solidFill>
              <a:srgbClr val="DDE7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13055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00200" y="2112264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395B"/>
                </a:solidFill>
              </a:rPr>
              <a:t>Insert SAP screenshots or diagrams where required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51560" y="2788920"/>
            <a:ext cx="96012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7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90779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00200" y="2889504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395B"/>
                </a:solidFill>
              </a:rPr>
              <a:t>Use trainer script as narration source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51560" y="3566160"/>
            <a:ext cx="9601200" cy="438912"/>
          </a:xfrm>
          <a:prstGeom prst="roundRect">
            <a:avLst>
              <a:gd name="adj" fmla="val 16667"/>
            </a:avLst>
          </a:prstGeom>
          <a:solidFill>
            <a:srgbClr val="EAF3F0"/>
          </a:solidFill>
          <a:ln w="12700">
            <a:solidFill>
              <a:srgbClr val="DDE7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368503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00200" y="3666744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395B"/>
                </a:solidFill>
              </a:rPr>
              <a:t>Use storyboard CSV as production tracker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051560" y="4343400"/>
            <a:ext cx="96012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7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446227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8A65"/>
                </a:solidFill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00200" y="4443984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395B"/>
                </a:solidFill>
              </a:rPr>
              <a:t>Record, assemble, export, and QA module by module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SAP Joule Studio &amp; AI Agent Development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18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Gonda Training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Joule Studio &amp; AI Agent Development</dc:title>
  <dc:subject>SAP Joule Studio AI Agent Development video course</dc:subject>
  <dc:creator>Freddy Gonda / OpenAI</dc:creator>
  <cp:lastModifiedBy>Freddy Gonda / OpenAI</cp:lastModifiedBy>
  <cp:revision>1</cp:revision>
  <dcterms:created xsi:type="dcterms:W3CDTF">2026-06-17T19:06:13Z</dcterms:created>
  <dcterms:modified xsi:type="dcterms:W3CDTF">2026-06-17T19:06:13Z</dcterms:modified>
</cp:coreProperties>
</file>